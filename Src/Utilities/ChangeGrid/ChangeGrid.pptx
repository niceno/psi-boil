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8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3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1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6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1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4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0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8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7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7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25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EA2C2-FD8A-4E4D-B649-B87E2A10C3B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709B1-E541-4B7A-862B-F7A7938CD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7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Multidocument 5"/>
          <p:cNvSpPr/>
          <p:nvPr/>
        </p:nvSpPr>
        <p:spPr>
          <a:xfrm>
            <a:off x="355016" y="1788340"/>
            <a:ext cx="2214469" cy="98904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*.</a:t>
            </a:r>
            <a:r>
              <a:rPr lang="en-US" dirty="0" err="1"/>
              <a:t>bck</a:t>
            </a:r>
            <a:endParaRPr lang="en-US" dirty="0"/>
          </a:p>
          <a:p>
            <a:pPr algn="ctr"/>
            <a:r>
              <a:rPr lang="en-US" dirty="0"/>
              <a:t>(decomposed)</a:t>
            </a:r>
          </a:p>
        </p:txBody>
      </p:sp>
      <p:sp>
        <p:nvSpPr>
          <p:cNvPr id="14" name="Flowchart: Document 13"/>
          <p:cNvSpPr/>
          <p:nvPr/>
        </p:nvSpPr>
        <p:spPr>
          <a:xfrm>
            <a:off x="3201953" y="1798084"/>
            <a:ext cx="2639007" cy="989044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*.grid</a:t>
            </a:r>
          </a:p>
          <a:p>
            <a:pPr algn="ctr"/>
            <a:r>
              <a:rPr lang="en-US" dirty="0"/>
              <a:t>(single block, original grid,</a:t>
            </a:r>
          </a:p>
          <a:p>
            <a:pPr algn="ctr"/>
            <a:r>
              <a:rPr lang="en-US" dirty="0" err="1"/>
              <a:t>gi,gj,gk,xn,yn,zn,xc,yc,zc</a:t>
            </a:r>
            <a:r>
              <a:rPr lang="en-US" dirty="0"/>
              <a:t>)</a:t>
            </a:r>
          </a:p>
        </p:txBody>
      </p:sp>
      <p:sp>
        <p:nvSpPr>
          <p:cNvPr id="15" name="Flowchart: Document 14"/>
          <p:cNvSpPr/>
          <p:nvPr/>
        </p:nvSpPr>
        <p:spPr>
          <a:xfrm>
            <a:off x="6363475" y="1788340"/>
            <a:ext cx="2639007" cy="1006765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*.grid</a:t>
            </a:r>
          </a:p>
          <a:p>
            <a:pPr algn="ctr"/>
            <a:r>
              <a:rPr lang="en-US" dirty="0"/>
              <a:t>(single block, new grid,</a:t>
            </a:r>
          </a:p>
          <a:p>
            <a:pPr algn="ctr"/>
            <a:r>
              <a:rPr lang="en-US" dirty="0" err="1"/>
              <a:t>gi,gj,gk,xn,yn,zn,xc,yc,zc</a:t>
            </a:r>
            <a:r>
              <a:rPr lang="en-US"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737" y="3191952"/>
            <a:ext cx="19221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changeGrid</a:t>
            </a:r>
            <a:endParaRPr lang="en-US" dirty="0"/>
          </a:p>
        </p:txBody>
      </p:sp>
      <p:cxnSp>
        <p:nvCxnSpPr>
          <p:cNvPr id="18" name="Elbow Connector 17"/>
          <p:cNvCxnSpPr>
            <a:cxnSpLocks/>
            <a:stCxn id="6" idx="2"/>
            <a:endCxn id="16" idx="0"/>
          </p:cNvCxnSpPr>
          <p:nvPr/>
        </p:nvCxnSpPr>
        <p:spPr>
          <a:xfrm rot="16200000" flipH="1">
            <a:off x="2690016" y="1358176"/>
            <a:ext cx="452023" cy="321552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cxnSpLocks/>
            <a:stCxn id="14" idx="2"/>
            <a:endCxn id="16" idx="0"/>
          </p:cNvCxnSpPr>
          <p:nvPr/>
        </p:nvCxnSpPr>
        <p:spPr>
          <a:xfrm rot="16200000" flipH="1">
            <a:off x="4287519" y="2955679"/>
            <a:ext cx="470211" cy="233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15" idx="2"/>
            <a:endCxn id="16" idx="0"/>
          </p:cNvCxnSpPr>
          <p:nvPr/>
        </p:nvCxnSpPr>
        <p:spPr>
          <a:xfrm rot="5400000">
            <a:off x="5871683" y="1380655"/>
            <a:ext cx="463405" cy="31591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Document 24"/>
          <p:cNvSpPr/>
          <p:nvPr/>
        </p:nvSpPr>
        <p:spPr>
          <a:xfrm>
            <a:off x="9681181" y="507153"/>
            <a:ext cx="1922107" cy="682299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time.txt</a:t>
            </a:r>
          </a:p>
        </p:txBody>
      </p:sp>
      <p:sp>
        <p:nvSpPr>
          <p:cNvPr id="35" name="Flowchart: Multidocument 34"/>
          <p:cNvSpPr/>
          <p:nvPr/>
        </p:nvSpPr>
        <p:spPr>
          <a:xfrm>
            <a:off x="2884693" y="3933510"/>
            <a:ext cx="2883161" cy="98904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*.bck2</a:t>
            </a:r>
          </a:p>
          <a:p>
            <a:pPr algn="ctr"/>
            <a:r>
              <a:rPr lang="en-US" dirty="0"/>
              <a:t>(decomposed)</a:t>
            </a:r>
          </a:p>
        </p:txBody>
      </p:sp>
      <p:cxnSp>
        <p:nvCxnSpPr>
          <p:cNvPr id="42" name="Straight Arrow Connector 41"/>
          <p:cNvCxnSpPr>
            <a:cxnSpLocks/>
            <a:stCxn id="16" idx="2"/>
            <a:endCxn id="35" idx="0"/>
          </p:cNvCxnSpPr>
          <p:nvPr/>
        </p:nvCxnSpPr>
        <p:spPr>
          <a:xfrm>
            <a:off x="4523791" y="3561284"/>
            <a:ext cx="833" cy="372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Document 47"/>
          <p:cNvSpPr/>
          <p:nvPr/>
        </p:nvSpPr>
        <p:spPr>
          <a:xfrm>
            <a:off x="3339577" y="526343"/>
            <a:ext cx="2363757" cy="682299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main.cpp</a:t>
            </a:r>
          </a:p>
          <a:p>
            <a:pPr algn="ctr"/>
            <a:r>
              <a:rPr lang="en-US" dirty="0"/>
              <a:t>(original grid)</a:t>
            </a:r>
          </a:p>
        </p:txBody>
      </p:sp>
      <p:sp>
        <p:nvSpPr>
          <p:cNvPr id="49" name="Flowchart: Document 48"/>
          <p:cNvSpPr/>
          <p:nvPr/>
        </p:nvSpPr>
        <p:spPr>
          <a:xfrm>
            <a:off x="6363475" y="543121"/>
            <a:ext cx="2639007" cy="682299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main.cpp</a:t>
            </a:r>
          </a:p>
          <a:p>
            <a:pPr algn="ctr"/>
            <a:r>
              <a:rPr lang="en-US" dirty="0"/>
              <a:t>(new grid)</a:t>
            </a:r>
          </a:p>
        </p:txBody>
      </p:sp>
      <p:cxnSp>
        <p:nvCxnSpPr>
          <p:cNvPr id="50" name="Straight Arrow Connector 49"/>
          <p:cNvCxnSpPr>
            <a:cxnSpLocks/>
            <a:stCxn id="48" idx="2"/>
            <a:endCxn id="14" idx="0"/>
          </p:cNvCxnSpPr>
          <p:nvPr/>
        </p:nvCxnSpPr>
        <p:spPr>
          <a:xfrm>
            <a:off x="4521456" y="1163534"/>
            <a:ext cx="1" cy="634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  <a:stCxn id="49" idx="2"/>
            <a:endCxn id="15" idx="0"/>
          </p:cNvCxnSpPr>
          <p:nvPr/>
        </p:nvCxnSpPr>
        <p:spPr>
          <a:xfrm>
            <a:off x="7682979" y="1180312"/>
            <a:ext cx="0" cy="6080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062EE7F-B7B9-E25C-D0BA-537EDEC5988D}"/>
              </a:ext>
            </a:extLst>
          </p:cNvPr>
          <p:cNvSpPr/>
          <p:nvPr/>
        </p:nvSpPr>
        <p:spPr>
          <a:xfrm>
            <a:off x="0" y="0"/>
            <a:ext cx="1216404" cy="5011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4E62DC-E2DA-6A67-CCCC-8DBA0133051D}"/>
              </a:ext>
            </a:extLst>
          </p:cNvPr>
          <p:cNvSpPr txBox="1"/>
          <p:nvPr/>
        </p:nvSpPr>
        <p:spPr>
          <a:xfrm>
            <a:off x="662855" y="543121"/>
            <a:ext cx="190079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Boil</a:t>
            </a:r>
          </a:p>
          <a:p>
            <a:pPr algn="ctr"/>
            <a:r>
              <a:rPr lang="en-US" dirty="0"/>
              <a:t>(original grid)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34A37DF-B943-1510-2030-14A761625E66}"/>
              </a:ext>
            </a:extLst>
          </p:cNvPr>
          <p:cNvCxnSpPr>
            <a:cxnSpLocks/>
            <a:stCxn id="24" idx="2"/>
            <a:endCxn id="6" idx="0"/>
          </p:cNvCxnSpPr>
          <p:nvPr/>
        </p:nvCxnSpPr>
        <p:spPr>
          <a:xfrm>
            <a:off x="1613250" y="1189452"/>
            <a:ext cx="1348" cy="5988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864534-E336-BD51-7782-5BD17002EA57}"/>
              </a:ext>
            </a:extLst>
          </p:cNvPr>
          <p:cNvCxnSpPr>
            <a:stCxn id="48" idx="1"/>
            <a:endCxn id="24" idx="3"/>
          </p:cNvCxnSpPr>
          <p:nvPr/>
        </p:nvCxnSpPr>
        <p:spPr>
          <a:xfrm flipH="1" flipV="1">
            <a:off x="2563645" y="866287"/>
            <a:ext cx="775932" cy="1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EFCA8FF-EC79-0F41-938A-876BCF50594E}"/>
              </a:ext>
            </a:extLst>
          </p:cNvPr>
          <p:cNvSpPr txBox="1"/>
          <p:nvPr/>
        </p:nvSpPr>
        <p:spPr>
          <a:xfrm>
            <a:off x="3181383" y="5371300"/>
            <a:ext cx="190079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Boil</a:t>
            </a:r>
          </a:p>
          <a:p>
            <a:pPr algn="ctr"/>
            <a:r>
              <a:rPr lang="en-US" dirty="0"/>
              <a:t>(new grid)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03A6DB-AB49-BCC4-7934-4C5312034A23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>
            <a:off x="4125787" y="4885099"/>
            <a:ext cx="5991" cy="486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A75F4E2-4BE3-F4F1-C643-CCED5E9E4951}"/>
              </a:ext>
            </a:extLst>
          </p:cNvPr>
          <p:cNvCxnSpPr>
            <a:stCxn id="49" idx="3"/>
            <a:endCxn id="37" idx="3"/>
          </p:cNvCxnSpPr>
          <p:nvPr/>
        </p:nvCxnSpPr>
        <p:spPr>
          <a:xfrm flipH="1">
            <a:off x="5082173" y="884271"/>
            <a:ext cx="3920309" cy="4810195"/>
          </a:xfrm>
          <a:prstGeom prst="bentConnector3">
            <a:avLst>
              <a:gd name="adj1" fmla="val -583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21">
            <a:extLst>
              <a:ext uri="{FF2B5EF4-FFF2-40B4-BE49-F238E27FC236}">
                <a16:creationId xmlns:a16="http://schemas.microsoft.com/office/drawing/2014/main" id="{A213F4CB-F0EF-5CAF-6ED5-6FD449CA232F}"/>
              </a:ext>
            </a:extLst>
          </p:cNvPr>
          <p:cNvCxnSpPr>
            <a:cxnSpLocks/>
            <a:stCxn id="47" idx="2"/>
            <a:endCxn id="37" idx="0"/>
          </p:cNvCxnSpPr>
          <p:nvPr/>
        </p:nvCxnSpPr>
        <p:spPr>
          <a:xfrm rot="5400000">
            <a:off x="6048767" y="777832"/>
            <a:ext cx="2676480" cy="6510457"/>
          </a:xfrm>
          <a:prstGeom prst="bentConnector3">
            <a:avLst>
              <a:gd name="adj1" fmla="val 904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Document 46">
            <a:extLst>
              <a:ext uri="{FF2B5EF4-FFF2-40B4-BE49-F238E27FC236}">
                <a16:creationId xmlns:a16="http://schemas.microsoft.com/office/drawing/2014/main" id="{E730DE8D-AA14-A853-5C38-38343F2D329A}"/>
              </a:ext>
            </a:extLst>
          </p:cNvPr>
          <p:cNvSpPr/>
          <p:nvPr/>
        </p:nvSpPr>
        <p:spPr>
          <a:xfrm>
            <a:off x="9681181" y="2057629"/>
            <a:ext cx="1922107" cy="682299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time.txt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FC5203D-9775-E187-23A8-7A53BE2F6BDC}"/>
              </a:ext>
            </a:extLst>
          </p:cNvPr>
          <p:cNvCxnSpPr>
            <a:cxnSpLocks/>
            <a:stCxn id="25" idx="2"/>
            <a:endCxn id="47" idx="0"/>
          </p:cNvCxnSpPr>
          <p:nvPr/>
        </p:nvCxnSpPr>
        <p:spPr>
          <a:xfrm>
            <a:off x="10642235" y="1144344"/>
            <a:ext cx="0" cy="913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2944577-8C0C-D11A-4168-61184A553C36}"/>
              </a:ext>
            </a:extLst>
          </p:cNvPr>
          <p:cNvSpPr txBox="1"/>
          <p:nvPr/>
        </p:nvSpPr>
        <p:spPr>
          <a:xfrm>
            <a:off x="9681181" y="1388138"/>
            <a:ext cx="220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Manually decrease dt</a:t>
            </a:r>
          </a:p>
        </p:txBody>
      </p:sp>
    </p:spTree>
    <p:extLst>
      <p:ext uri="{BB962C8B-B14F-4D97-AF65-F5344CB8AC3E}">
        <p14:creationId xmlns:p14="http://schemas.microsoft.com/office/powerpoint/2010/main" val="189560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880D-FF35-B968-F71D-AB97975D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bck</a:t>
            </a:r>
            <a:r>
              <a:rPr lang="en-US" dirty="0"/>
              <a:t> files of CIPCSL2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2FBD-784F-AAB0-9E98-215DC99E5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825625"/>
            <a:ext cx="5011153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Change only conc-phi*.</a:t>
            </a:r>
            <a:r>
              <a:rPr lang="en-US" sz="2000" dirty="0" err="1"/>
              <a:t>bck</a:t>
            </a:r>
            <a:r>
              <a:rPr lang="en-US" sz="2000" dirty="0"/>
              <a:t> to conc-phi*.bck2.</a:t>
            </a:r>
          </a:p>
          <a:p>
            <a:r>
              <a:rPr lang="en-US" sz="2000" dirty="0"/>
              <a:t>The other variables such as </a:t>
            </a:r>
            <a:r>
              <a:rPr lang="en-US" sz="1800" dirty="0"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conc-</a:t>
            </a:r>
            <a:r>
              <a:rPr lang="en-US" sz="1800" dirty="0" err="1"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clr</a:t>
            </a:r>
            <a:r>
              <a:rPr lang="en-US" sz="1800" dirty="0"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*, conc-face*, conc-sig* will be generated in main.cpp, especially made for the restart after </a:t>
            </a:r>
            <a:r>
              <a:rPr lang="en-US" sz="1800" dirty="0" err="1"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ChangeGrid</a:t>
            </a:r>
            <a:r>
              <a:rPr lang="en-US" sz="1800" dirty="0"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.</a:t>
            </a:r>
          </a:p>
          <a:p>
            <a:r>
              <a:rPr lang="en-US" sz="1800" dirty="0">
                <a:latin typeface="Calibri" panose="020F0502020204030204" pitchFamily="34" charset="0"/>
                <a:ea typeface="Yu Gothic" panose="020B0400000000000000" pitchFamily="34" charset="-128"/>
              </a:rPr>
              <a:t>The code on the right is a restart part of main.cpp.</a:t>
            </a:r>
            <a:br>
              <a:rPr lang="en-US" sz="1800" dirty="0">
                <a:latin typeface="Calibri" panose="020F0502020204030204" pitchFamily="34" charset="0"/>
                <a:ea typeface="Yu Gothic" panose="020B0400000000000000" pitchFamily="34" charset="-128"/>
              </a:rPr>
            </a:br>
            <a:r>
              <a:rPr lang="en-US" sz="1800" dirty="0">
                <a:latin typeface="Calibri" panose="020F0502020204030204" pitchFamily="34" charset="0"/>
                <a:ea typeface="Yu Gothic" panose="020B0400000000000000" pitchFamily="34" charset="-128"/>
              </a:rPr>
              <a:t>When you restart after </a:t>
            </a:r>
            <a:r>
              <a:rPr lang="en-US" sz="1800" dirty="0" err="1">
                <a:latin typeface="Calibri" panose="020F0502020204030204" pitchFamily="34" charset="0"/>
                <a:ea typeface="Yu Gothic" panose="020B0400000000000000" pitchFamily="34" charset="-128"/>
              </a:rPr>
              <a:t>ChangeGrid</a:t>
            </a:r>
            <a:r>
              <a:rPr lang="en-US" sz="1800" dirty="0">
                <a:latin typeface="Calibri" panose="020F0502020204030204" pitchFamily="34" charset="0"/>
                <a:ea typeface="Yu Gothic" panose="020B0400000000000000" pitchFamily="34" charset="-128"/>
              </a:rPr>
              <a:t>, set #if 1.</a:t>
            </a:r>
            <a:br>
              <a:rPr lang="en-US" sz="1800" dirty="0">
                <a:latin typeface="Calibri" panose="020F0502020204030204" pitchFamily="34" charset="0"/>
                <a:ea typeface="Yu Gothic" panose="020B0400000000000000" pitchFamily="34" charset="-128"/>
              </a:rPr>
            </a:br>
            <a:r>
              <a:rPr lang="en-US" sz="1800" dirty="0">
                <a:latin typeface="Calibri" panose="020F0502020204030204" pitchFamily="34" charset="0"/>
                <a:ea typeface="Yu Gothic" panose="020B0400000000000000" pitchFamily="34" charset="-128"/>
              </a:rPr>
              <a:t>When you restart normally, set #if 0.  </a:t>
            </a:r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073204-C08D-E177-0B1D-C732296DA200}"/>
              </a:ext>
            </a:extLst>
          </p:cNvPr>
          <p:cNvSpPr txBox="1">
            <a:spLocks/>
          </p:cNvSpPr>
          <p:nvPr/>
        </p:nvSpPr>
        <p:spPr>
          <a:xfrm>
            <a:off x="6892091" y="1253331"/>
            <a:ext cx="4461711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if( restart 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uvw</a:t>
            </a:r>
            <a:r>
              <a:rPr lang="en-US" sz="1200" dirty="0"/>
              <a:t>   .load("</a:t>
            </a:r>
            <a:r>
              <a:rPr lang="en-US" sz="1200" dirty="0" err="1"/>
              <a:t>uvw</a:t>
            </a:r>
            <a:r>
              <a:rPr lang="en-US" sz="1200" dirty="0"/>
              <a:t>", </a:t>
            </a:r>
            <a:r>
              <a:rPr lang="en-US" sz="1200" dirty="0" err="1"/>
              <a:t>ts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press .load("press", </a:t>
            </a:r>
            <a:r>
              <a:rPr lang="en-US" sz="1200" dirty="0" err="1"/>
              <a:t>ts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tpr</a:t>
            </a:r>
            <a:r>
              <a:rPr lang="en-US" sz="1200" dirty="0"/>
              <a:t>   .load("</a:t>
            </a:r>
            <a:r>
              <a:rPr lang="en-US" sz="1200" dirty="0" err="1"/>
              <a:t>tpr</a:t>
            </a:r>
            <a:r>
              <a:rPr lang="en-US" sz="1200" dirty="0"/>
              <a:t>", </a:t>
            </a:r>
            <a:r>
              <a:rPr lang="en-US" sz="1200" dirty="0" err="1"/>
              <a:t>ts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FF0000"/>
                </a:solidFill>
              </a:rPr>
              <a:t>#if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/* normal start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conc  .load("conc", </a:t>
            </a:r>
            <a:r>
              <a:rPr lang="en-US" sz="1200" dirty="0" err="1"/>
              <a:t>ts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nucl</a:t>
            </a:r>
            <a:r>
              <a:rPr lang="en-US" sz="1200" dirty="0"/>
              <a:t>  .load("</a:t>
            </a:r>
            <a:r>
              <a:rPr lang="en-US" sz="1200" dirty="0" err="1"/>
              <a:t>nucl</a:t>
            </a:r>
            <a:r>
              <a:rPr lang="en-US" sz="1200" dirty="0"/>
              <a:t>", </a:t>
            </a:r>
            <a:r>
              <a:rPr lang="en-US" sz="1200" dirty="0" err="1"/>
              <a:t>ts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wd    .load("wd",   </a:t>
            </a:r>
            <a:r>
              <a:rPr lang="en-US" sz="1200" dirty="0" err="1"/>
              <a:t>ts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#else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/* after </a:t>
            </a:r>
            <a:r>
              <a:rPr lang="en-US" sz="1200" dirty="0" err="1"/>
              <a:t>changeGrid</a:t>
            </a:r>
            <a:r>
              <a:rPr lang="en-US" sz="1200" dirty="0"/>
              <a:t>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/* load conc-phi as a scalar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c.load</a:t>
            </a:r>
            <a:r>
              <a:rPr lang="en-US" sz="1200" dirty="0"/>
              <a:t>("conc-phi", </a:t>
            </a:r>
            <a:r>
              <a:rPr lang="en-US" sz="1200" dirty="0" err="1"/>
              <a:t>ts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c.exchange_all</a:t>
            </a:r>
            <a:r>
              <a:rPr lang="en-US" sz="12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/* calculate conc-sigma etc.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conc.init</a:t>
            </a:r>
            <a:r>
              <a:rPr lang="en-US" sz="12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/* </a:t>
            </a:r>
            <a:r>
              <a:rPr lang="en-US" sz="1200" dirty="0" err="1"/>
              <a:t>zsite</a:t>
            </a:r>
            <a:r>
              <a:rPr lang="en-US" sz="1200" dirty="0"/>
              <a:t> can be changed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real </a:t>
            </a:r>
            <a:r>
              <a:rPr lang="en-US" sz="1200" dirty="0" err="1"/>
              <a:t>zsite</a:t>
            </a:r>
            <a:r>
              <a:rPr lang="en-US" sz="1200" dirty="0"/>
              <a:t>=</a:t>
            </a:r>
            <a:r>
              <a:rPr lang="en-US" sz="1200" dirty="0" err="1"/>
              <a:t>rseed</a:t>
            </a:r>
            <a:r>
              <a:rPr lang="en-US" sz="1200" dirty="0"/>
              <a:t>*cos(</a:t>
            </a:r>
            <a:r>
              <a:rPr lang="en-US" sz="1200" dirty="0" err="1"/>
              <a:t>conc.get_cangle</a:t>
            </a:r>
            <a:r>
              <a:rPr lang="en-US" sz="1200" dirty="0"/>
              <a:t>()/180.0*boil::pi);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boil::</a:t>
            </a:r>
            <a:r>
              <a:rPr lang="en-US" sz="1200" dirty="0" err="1"/>
              <a:t>oout</a:t>
            </a:r>
            <a:r>
              <a:rPr lang="en-US" sz="1200" dirty="0"/>
              <a:t>&lt;&lt;"</a:t>
            </a:r>
            <a:r>
              <a:rPr lang="en-US" sz="1200" dirty="0" err="1"/>
              <a:t>main:change_site_z</a:t>
            </a:r>
            <a:r>
              <a:rPr lang="en-US" sz="1200" dirty="0"/>
              <a:t>= "&lt;&lt;</a:t>
            </a:r>
            <a:r>
              <a:rPr lang="en-US" sz="1200" dirty="0" err="1"/>
              <a:t>zsite</a:t>
            </a:r>
            <a:r>
              <a:rPr lang="en-US" sz="1200" dirty="0"/>
              <a:t>&lt;&lt;" "&lt;&lt;</a:t>
            </a:r>
            <a:r>
              <a:rPr lang="en-US" sz="1200" dirty="0" err="1"/>
              <a:t>rseed</a:t>
            </a:r>
            <a:r>
              <a:rPr lang="en-US" sz="1200" dirty="0"/>
              <a:t>&lt;&lt;"\n";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nucl</a:t>
            </a:r>
            <a:r>
              <a:rPr lang="en-US" sz="1200" dirty="0"/>
              <a:t>  .load("</a:t>
            </a:r>
            <a:r>
              <a:rPr lang="en-US" sz="1200" dirty="0" err="1"/>
              <a:t>nucl</a:t>
            </a:r>
            <a:r>
              <a:rPr lang="en-US" sz="1200" dirty="0"/>
              <a:t>", </a:t>
            </a:r>
            <a:r>
              <a:rPr lang="en-US" sz="1200" dirty="0" err="1"/>
              <a:t>ts</a:t>
            </a:r>
            <a:r>
              <a:rPr lang="en-US" sz="1200" dirty="0"/>
              <a:t>, &amp;</a:t>
            </a:r>
            <a:r>
              <a:rPr lang="en-US" sz="1200" dirty="0" err="1"/>
              <a:t>zsite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/* distance function from wall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wd    .load("wd",   </a:t>
            </a:r>
            <a:r>
              <a:rPr lang="en-US" sz="1200" dirty="0" err="1"/>
              <a:t>ts</a:t>
            </a:r>
            <a:r>
              <a:rPr lang="en-US" sz="1200" dirty="0"/>
              <a:t>);  // load as an initial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sdummy</a:t>
            </a:r>
            <a:r>
              <a:rPr lang="en-US" sz="1200" dirty="0"/>
              <a:t> = 0.0;             // reset source term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di.compute</a:t>
            </a:r>
            <a:r>
              <a:rPr lang="en-US" sz="12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#endif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/* calculate step in case of restart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  </a:t>
            </a:r>
            <a:r>
              <a:rPr lang="en-US" sz="1200" dirty="0" err="1"/>
              <a:t>update_step</a:t>
            </a:r>
            <a:r>
              <a:rPr lang="en-US" sz="1200" dirty="0"/>
              <a:t>(c, step, </a:t>
            </a:r>
            <a:r>
              <a:rPr lang="en-US" sz="1200" dirty="0" err="1"/>
              <a:t>sdummy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12288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or updated code (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Utilities/</a:t>
            </a:r>
            <a:r>
              <a:rPr lang="en-US" dirty="0" err="1"/>
              <a:t>ChangeGrid</a:t>
            </a:r>
            <a:endParaRPr lang="en-US" dirty="0"/>
          </a:p>
          <a:p>
            <a:r>
              <a:rPr lang="en-US" dirty="0"/>
              <a:t>Modify </a:t>
            </a:r>
            <a:r>
              <a:rPr lang="en-US" dirty="0" err="1"/>
              <a:t>domain.h</a:t>
            </a:r>
            <a:r>
              <a:rPr lang="en-US" dirty="0"/>
              <a:t>, and add domain_save.cpp</a:t>
            </a:r>
          </a:p>
          <a:p>
            <a:r>
              <a:rPr lang="en-US" dirty="0"/>
              <a:t>main.cpp (add </a:t>
            </a:r>
            <a:r>
              <a:rPr lang="en-US" dirty="0" err="1"/>
              <a:t>dom.save</a:t>
            </a:r>
            <a:r>
              <a:rPr lang="en-US" dirty="0"/>
              <a:t>(g4.dom))</a:t>
            </a:r>
          </a:p>
        </p:txBody>
      </p:sp>
    </p:spTree>
    <p:extLst>
      <p:ext uri="{BB962C8B-B14F-4D97-AF65-F5344CB8AC3E}">
        <p14:creationId xmlns:p14="http://schemas.microsoft.com/office/powerpoint/2010/main" val="165913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955" y="653143"/>
            <a:ext cx="2100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Scalar 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xn_global</a:t>
            </a:r>
            <a:r>
              <a:rPr lang="en-US" dirty="0"/>
              <a:t>(I)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yn_global</a:t>
            </a:r>
            <a:r>
              <a:rPr lang="en-US" dirty="0"/>
              <a:t> (J)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zn_global</a:t>
            </a:r>
            <a:r>
              <a:rPr lang="en-US" dirty="0"/>
              <a:t> (K)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5927" y="653142"/>
            <a:ext cx="7303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</a:t>
            </a:r>
          </a:p>
          <a:p>
            <a:r>
              <a:rPr lang="en-US" dirty="0"/>
              <a:t>u: (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xc_global</a:t>
            </a:r>
            <a:r>
              <a:rPr lang="en-US" dirty="0"/>
              <a:t> (I-1), 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yn_global</a:t>
            </a:r>
            <a:r>
              <a:rPr lang="en-US" dirty="0"/>
              <a:t> (J), 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zn_global</a:t>
            </a:r>
            <a:r>
              <a:rPr lang="en-US" dirty="0"/>
              <a:t> (K))</a:t>
            </a:r>
          </a:p>
          <a:p>
            <a:r>
              <a:rPr lang="en-US" dirty="0"/>
              <a:t>v: (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xn_global</a:t>
            </a:r>
            <a:r>
              <a:rPr lang="en-US" dirty="0"/>
              <a:t> (I), 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yc_global</a:t>
            </a:r>
            <a:r>
              <a:rPr lang="en-US" dirty="0"/>
              <a:t> (J-1), 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zn_global</a:t>
            </a:r>
            <a:r>
              <a:rPr lang="en-US" dirty="0"/>
              <a:t> (K))</a:t>
            </a:r>
          </a:p>
          <a:p>
            <a:r>
              <a:rPr lang="en-US" dirty="0"/>
              <a:t>w: (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xn_global</a:t>
            </a:r>
            <a:r>
              <a:rPr lang="en-US" dirty="0"/>
              <a:t> (I), 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yn_global</a:t>
            </a:r>
            <a:r>
              <a:rPr lang="en-US" dirty="0"/>
              <a:t> (J), </a:t>
            </a:r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zc_global</a:t>
            </a:r>
            <a:r>
              <a:rPr lang="en-US" dirty="0"/>
              <a:t> (K-1))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55" y="2362494"/>
            <a:ext cx="21002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to output  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xn_global</a:t>
            </a:r>
            <a:r>
              <a:rPr lang="en-US" dirty="0"/>
              <a:t> (I)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yn_global</a:t>
            </a:r>
            <a:r>
              <a:rPr lang="en-US" dirty="0"/>
              <a:t> (J)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zn_global</a:t>
            </a:r>
            <a:r>
              <a:rPr lang="en-US" dirty="0"/>
              <a:t> (K)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xc_global</a:t>
            </a:r>
            <a:r>
              <a:rPr lang="en-US" dirty="0"/>
              <a:t> (I)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yc_global</a:t>
            </a:r>
            <a:r>
              <a:rPr lang="en-US" dirty="0"/>
              <a:t> (J)</a:t>
            </a:r>
          </a:p>
          <a:p>
            <a:r>
              <a:rPr lang="en-US" dirty="0" err="1"/>
              <a:t>dom</a:t>
            </a:r>
            <a:r>
              <a:rPr lang="en-US" dirty="0"/>
              <a:t> -&gt; </a:t>
            </a:r>
            <a:r>
              <a:rPr lang="en-US" dirty="0" err="1"/>
              <a:t>zc_global</a:t>
            </a:r>
            <a:r>
              <a:rPr lang="en-US" dirty="0"/>
              <a:t> (K)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9438C-FBB3-01CF-898C-F944E3CE2C9A}"/>
              </a:ext>
            </a:extLst>
          </p:cNvPr>
          <p:cNvSpPr txBox="1"/>
          <p:nvPr/>
        </p:nvSpPr>
        <p:spPr>
          <a:xfrm>
            <a:off x="534954" y="75467"/>
            <a:ext cx="129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</a:t>
            </a:r>
          </a:p>
        </p:txBody>
      </p:sp>
    </p:spTree>
    <p:extLst>
      <p:ext uri="{BB962C8B-B14F-4D97-AF65-F5344CB8AC3E}">
        <p14:creationId xmlns:p14="http://schemas.microsoft.com/office/powerpoint/2010/main" val="326037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1507524"/>
            <a:ext cx="5511114" cy="32127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267200" y="1507524"/>
            <a:ext cx="0" cy="3212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13000" y="483561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2200" y="483561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3000" y="5135605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=0,1,2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0165" y="3066536"/>
            <a:ext cx="603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879" y="3066536"/>
            <a:ext cx="749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outlet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7459362" y="1507524"/>
            <a:ext cx="0" cy="3212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4362" y="483561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114" y="6058929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ni</a:t>
            </a:r>
            <a:r>
              <a:rPr lang="en-US" dirty="0"/>
              <a:t>=78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5604" y="483561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5603" y="520494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=76,77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9409EC-FB6F-E13F-A10C-466894B0D342}"/>
              </a:ext>
            </a:extLst>
          </p:cNvPr>
          <p:cNvSpPr txBox="1"/>
          <p:nvPr/>
        </p:nvSpPr>
        <p:spPr>
          <a:xfrm>
            <a:off x="534954" y="75467"/>
            <a:ext cx="129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</a:t>
            </a:r>
          </a:p>
        </p:txBody>
      </p:sp>
    </p:spTree>
    <p:extLst>
      <p:ext uri="{BB962C8B-B14F-4D97-AF65-F5344CB8AC3E}">
        <p14:creationId xmlns:p14="http://schemas.microsoft.com/office/powerpoint/2010/main" val="271457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For bck files of CIPCSL2</vt:lpstr>
      <vt:lpstr>New or updated code (github)</vt:lpstr>
      <vt:lpstr>PowerPoint Presentation</vt:lpstr>
      <vt:lpstr>PowerPoint Presentation</vt:lpstr>
    </vt:vector>
  </TitlesOfParts>
  <Company>PSI - Paul Scherrer Institut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Sato Yohei</dc:creator>
  <cp:lastModifiedBy>Sato Yohei</cp:lastModifiedBy>
  <cp:revision>21</cp:revision>
  <dcterms:created xsi:type="dcterms:W3CDTF">2023-07-06T08:33:46Z</dcterms:created>
  <dcterms:modified xsi:type="dcterms:W3CDTF">2024-10-25T11:08:52Z</dcterms:modified>
</cp:coreProperties>
</file>